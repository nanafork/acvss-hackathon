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8745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6EF4A"/>
                </a:solidFill>
                <a:latin typeface="Menlo"/>
              </a:rPr>
              <a:t>ACVSS  ·  MRI SUPER-RESOLUTION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331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Helvetica Neue"/>
              </a:rPr>
              <a:t>When sharper means </a:t>
            </a:r>
            <a:r>
              <a:rPr sz="5400" b="1">
                <a:solidFill>
                  <a:srgbClr val="D6EF4A"/>
                </a:solidFill>
                <a:latin typeface="Helvetica Neue"/>
              </a:rPr>
              <a:t>blind</a:t>
            </a:r>
            <a:r>
              <a:rPr sz="5400" b="1">
                <a:solidFill>
                  <a:srgbClr val="FFFFFF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703320"/>
            <a:ext cx="8595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D8E4DF"/>
                </a:solidFill>
                <a:latin typeface="Helvetica Neue"/>
              </a:rPr>
              <a:t>Super-resolution makes a cheap low-field brain scan look crisp. Trained only for image quality, it can quietly </a:t>
            </a:r>
            <a:r>
              <a:rPr sz="1900" b="1">
                <a:solidFill>
                  <a:srgbClr val="FFFFFF"/>
                </a:solidFill>
                <a:latin typeface="Helvetica Neue"/>
              </a:rPr>
              <a:t>erase a small tumor</a:t>
            </a:r>
            <a:r>
              <a:rPr sz="1900" b="0">
                <a:solidFill>
                  <a:srgbClr val="D8E4DF"/>
                </a:solidFill>
                <a:latin typeface="Helvetica Neue"/>
              </a:rPr>
              <a:t>. We measure how often that happens, and fix it with a tumor-aware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257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B9CEC6"/>
                </a:solidFill>
                <a:latin typeface="Menlo"/>
              </a:rPr>
              <a:t>Adiza Alhassan  ·  Nthabiseng Thema  ·  Albert Dodoo  ·  Victor Oyindouye Miene  ·  Hassan Suliman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B5340"/>
                </a:solidFill>
                <a:latin typeface="Menlo"/>
              </a:rPr>
              <a:t>01 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5727" y="384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772"/>
                </a:solidFill>
                <a:latin typeface="Menlo"/>
              </a:rPr>
              <a:t>Tumor-aware SR  ·  ACVSS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41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4201B"/>
                </a:solidFill>
                <a:latin typeface="Helvetica Neue"/>
              </a:rPr>
              <a:t>Cheap, low-quality scanners are the only realistic way to widen MRI access.</a:t>
            </a:r>
          </a:p>
        </p:txBody>
      </p:sp>
      <p:pic>
        <p:nvPicPr>
          <p:cNvPr id="6" name="Picture 5" descr="mri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0"/>
            <a:ext cx="6035040" cy="40253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4008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772"/>
                </a:solidFill>
                <a:latin typeface="Helvetica Neue"/>
              </a:rPr>
              <a:t>A three tesla scanner needs a shielded room, a cooling supply and power that does not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2331720"/>
            <a:ext cx="4291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EB6834"/>
                </a:solidFill>
                <a:latin typeface="Menlo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3200400"/>
            <a:ext cx="4291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Ghana.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3566160"/>
            <a:ext cx="4291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772"/>
                </a:solidFill>
                <a:latin typeface="Helvetica Neue"/>
              </a:rPr>
              <a:t>For more than 30 million people, and two thirds of them sit in Greater Accra.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3794760"/>
            <a:ext cx="4291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EB6834"/>
                </a:solidFill>
                <a:latin typeface="Menlo"/>
              </a:rPr>
              <a:t>&lt;1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4663440"/>
            <a:ext cx="4291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Per million, much of sub-Saharan Africa.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5029200"/>
            <a:ext cx="4291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772"/>
                </a:solidFill>
                <a:latin typeface="Helvetica Neue"/>
              </a:rPr>
              <a:t>MRI is scarce where the disease burden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5257800"/>
            <a:ext cx="4291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14201B"/>
                </a:solidFill>
                <a:latin typeface="Menlo"/>
              </a:rPr>
              <a:t>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6126480"/>
            <a:ext cx="4291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Per million, high-income countries.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6492240"/>
            <a:ext cx="4291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772"/>
                </a:solidFill>
                <a:latin typeface="Helvetica Neue"/>
              </a:rPr>
              <a:t>Up to this many, for the same imaging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B5340"/>
                </a:solidFill>
                <a:latin typeface="Menlo"/>
              </a:rPr>
              <a:t>02 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5727" y="384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772"/>
                </a:solidFill>
                <a:latin typeface="Menlo"/>
              </a:rPr>
              <a:t>Tumor-aware SR  ·  ACVSS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41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4201B"/>
                </a:solidFill>
                <a:latin typeface="Helvetica Neue"/>
              </a:rPr>
              <a:t>Penalise the model heavily for mistakes where the tumor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651760"/>
            <a:ext cx="50292" cy="228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42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01B"/>
                </a:solidFill>
                <a:latin typeface="Helvetica Neue"/>
              </a:rPr>
              <a:t>How we degrade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742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D4A44"/>
                </a:solidFill>
                <a:latin typeface="Helvetica Neue"/>
              </a:rPr>
              <a:t>We take a real high-field scan and throw away the fine detail a cheap scanner cannot capture, then add noise. Every blurry input still has its true scan to be judged against.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1607" y="2651760"/>
            <a:ext cx="50292" cy="2286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7639" y="2651760"/>
            <a:ext cx="4742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01B"/>
                </a:solidFill>
                <a:latin typeface="Helvetica Neue"/>
              </a:rPr>
              <a:t>The tumor-aware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7639" y="3154680"/>
            <a:ext cx="4742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D4A44"/>
                </a:solidFill>
                <a:latin typeface="Helvetica Neue"/>
              </a:rPr>
              <a:t>A mistake inside the tumor costs the model far more than the same mistake in healthy tissue. It can no longer buy score by smoothing a lesion 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57800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B7772"/>
                </a:solidFill>
                <a:latin typeface="Helvetica Neue"/>
              </a:rPr>
              <a:t>Same network, same data. The only thing we changed is what it is punished for.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B5340"/>
                </a:solidFill>
                <a:latin typeface="Menlo"/>
              </a:rPr>
              <a:t>06 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5727" y="384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772"/>
                </a:solidFill>
                <a:latin typeface="Menlo"/>
              </a:rPr>
              <a:t>Tumor-aware SR  ·  ACVSS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41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4201B"/>
                </a:solidFill>
                <a:latin typeface="Helvetica Neue"/>
              </a:rPr>
              <a:t>Next: generative models, tested with the readout we just built.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651760"/>
            <a:ext cx="50292" cy="2194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910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01B"/>
                </a:solidFill>
                <a:latin typeface="Helvetica Neue"/>
              </a:rPr>
              <a:t>Why generative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99100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D4A44"/>
                </a:solidFill>
                <a:latin typeface="Helvetica Neue"/>
              </a:rPr>
              <a:t>Diffusion and adversarial models make the sharpest low-field images anyone has produced. They are also the ones most likely to invent tissue.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5754" y="2651760"/>
            <a:ext cx="50292" cy="2194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1786" y="2651760"/>
            <a:ext cx="29910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01B"/>
                </a:solidFill>
                <a:latin typeface="Helvetica Neue"/>
              </a:rPr>
              <a:t>Why we can now try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1786" y="3154680"/>
            <a:ext cx="299100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D4A44"/>
                </a:solidFill>
                <a:latin typeface="Helvetica Neue"/>
              </a:rPr>
              <a:t>We can measure what they lose and what they fabricate. Sharpness no longer has to be taken on trust.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3140" y="2651760"/>
            <a:ext cx="50292" cy="2194560"/>
          </a:xfrm>
          <a:prstGeom prst="rect">
            <a:avLst/>
          </a:prstGeom>
          <a:solidFill>
            <a:srgbClr val="6B7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9172" y="2651760"/>
            <a:ext cx="29910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01B"/>
                </a:solidFill>
                <a:latin typeface="Helvetica Neue"/>
              </a:rPr>
              <a:t>Then the one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9172" y="3154680"/>
            <a:ext cx="299100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D4A44"/>
                </a:solidFill>
                <a:latin typeface="Helvetica Neue"/>
              </a:rPr>
              <a:t>A single evaluation on the 94 patients nothing has touched.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212080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B7772"/>
                </a:solidFill>
                <a:latin typeface="Helvetica Neue"/>
              </a:rPr>
              <a:t>A safety metric is what makes a generative model testable rather than impressive.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B5340"/>
                </a:solidFill>
                <a:latin typeface="Menlo"/>
              </a:rPr>
              <a:t>03 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5727" y="384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772"/>
                </a:solidFill>
                <a:latin typeface="Menlo"/>
              </a:rPr>
              <a:t>Tumor-aware SR  ·  ACVSS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41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>
                <a:solidFill>
                  <a:srgbClr val="14201B"/>
                </a:solidFill>
                <a:latin typeface="Helvetica Neue"/>
              </a:rPr>
              <a:t>Degrade a real scan, reconstruct it two ways, and ask one frozen segmentation network what it can still find.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34640"/>
            <a:ext cx="10874959" cy="40790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0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B7772"/>
                </a:solidFill>
                <a:latin typeface="Helvetica Neue"/>
              </a:rPr>
              <a:t>No GAN, deliberately: an adversarial loss rewards inventing plausible tissue. 17,233 slices, 468 patients.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B5340"/>
                </a:solidFill>
                <a:latin typeface="Menlo"/>
              </a:rPr>
              <a:t>04  RESULT  ·  REAL BRATS, 70 UNSEEN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5727" y="384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772"/>
                </a:solidFill>
                <a:latin typeface="Menlo"/>
              </a:rPr>
              <a:t>Tumor-aware SR  ·  ACVSS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41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4201B"/>
                </a:solidFill>
                <a:latin typeface="Helvetica Neue"/>
              </a:rPr>
              <a:t>Super-resolution recovers tumor the degradation destroys. Ours recovers more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23160"/>
            <a:ext cx="332018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6B7772"/>
                </a:solidFill>
                <a:latin typeface="Menlo"/>
              </a:rPr>
              <a:t>62.2%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91840"/>
            <a:ext cx="33201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The degraded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332018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772"/>
                </a:solidFill>
                <a:latin typeface="Helvetica Neue"/>
              </a:rPr>
              <a:t>missed before any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5754" y="2423160"/>
            <a:ext cx="332018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B6834"/>
                </a:solidFill>
                <a:latin typeface="Menlo"/>
              </a:rPr>
              <a:t>58.0%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5754" y="3291840"/>
            <a:ext cx="33201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Standard SR (baseline)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5754" y="3657600"/>
            <a:ext cx="332018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772"/>
                </a:solidFill>
                <a:latin typeface="Helvetica Neue"/>
              </a:rPr>
              <a:t>recovers some of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3140" y="2423160"/>
            <a:ext cx="332018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BAF7A"/>
                </a:solidFill>
                <a:latin typeface="Menlo"/>
              </a:rPr>
              <a:t>51.3%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140" y="3291840"/>
            <a:ext cx="33201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Tumor-aware SR (ours)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3140" y="3657600"/>
            <a:ext cx="332018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772"/>
                </a:solidFill>
                <a:latin typeface="Helvetica Neue"/>
              </a:rPr>
              <a:t>6.7 points better, at matched quality</a:t>
            </a:r>
          </a:p>
        </p:txBody>
      </p:sp>
      <p:pic>
        <p:nvPicPr>
          <p:cNvPr id="15" name="Picture 14" descr="floor_by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14800"/>
            <a:ext cx="4303059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10528" y="4297680"/>
            <a:ext cx="522396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D4A44"/>
                </a:solidFill>
                <a:latin typeface="Helvetica Neue"/>
              </a:rPr>
              <a:t>Grey is what the frozen segmenter misses on the untouched scan. The block above it is what each objective adds: standard SR in orange, ours in green.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B5340"/>
                </a:solidFill>
                <a:latin typeface="Menlo"/>
              </a:rPr>
              <a:t>04  RESULT  ·  IMAGE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5727" y="384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772"/>
                </a:solidFill>
                <a:latin typeface="Menlo"/>
              </a:rPr>
              <a:t>Tumor-aware SR  ·  ACVSS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41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4201B"/>
                </a:solidFill>
                <a:latin typeface="Helvetica Neue"/>
              </a:rPr>
              <a:t>The two reconstructions are level on every quality metric we are judged by.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51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72"/>
                </a:solidFill>
                <a:latin typeface="Menlo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72"/>
                </a:solidFill>
                <a:latin typeface="Menlo"/>
              </a:rPr>
              <a:t>PSNR (DB), IN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72"/>
                </a:solidFill>
                <a:latin typeface="Menlo"/>
              </a:rPr>
              <a:t>SSIM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72"/>
                </a:solidFill>
                <a:latin typeface="Menlo"/>
              </a:rPr>
              <a:t>DICE, SEGMENTER VS TRUTH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2724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31012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B7772"/>
                </a:solidFill>
                <a:latin typeface="Helvetica Neue"/>
              </a:rPr>
              <a:t>low-res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33101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21.84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33101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0.498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33101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0.588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5876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05993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B6834"/>
                </a:solidFill>
                <a:latin typeface="Helvetica Neue"/>
              </a:rPr>
              <a:t>standard SR (baseline)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405993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24.51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0599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0.778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405993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0.660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608576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80974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BAF7A"/>
                </a:solidFill>
                <a:latin typeface="Helvetica Neue"/>
              </a:rPr>
              <a:t>tumor-aware SR (ours)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80974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24.28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480974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0.764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480974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201B"/>
                </a:solidFill>
                <a:latin typeface="Menlo"/>
              </a:rPr>
              <a:t>0.675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358384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833872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772"/>
                </a:solidFill>
                <a:latin typeface="Helvetica Neue"/>
              </a:rPr>
              <a:t>70 unseen patients. If these rows were not level, the erasure difference would be a quality difference wearing a safety costume.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B5340"/>
                </a:solidFill>
                <a:latin typeface="Menlo"/>
              </a:rPr>
              <a:t>05  RESULT  ·  FOUR VIEWPORTS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5727" y="384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772"/>
                </a:solidFill>
                <a:latin typeface="Menlo"/>
              </a:rPr>
              <a:t>Tumor-aware SR  ·  ACVSS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10874959" cy="9525"/>
          </a:xfrm>
          <a:prstGeom prst="rect">
            <a:avLst/>
          </a:prstGeom>
          <a:solidFill>
            <a:srgbClr val="DBD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4177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4201B"/>
                </a:solidFill>
                <a:latin typeface="Helvetica Neue"/>
              </a:rPr>
              <a:t>The lesions the baseline loses show up in 3D as empty blue shells.</a:t>
            </a:r>
          </a:p>
        </p:txBody>
      </p:sp>
      <p:pic>
        <p:nvPicPr>
          <p:cNvPr id="6" name="Picture 5" descr="brain3d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06040"/>
            <a:ext cx="2526715" cy="2403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242483"/>
            <a:ext cx="25267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589955"/>
            <a:ext cx="25267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72"/>
                </a:solidFill>
                <a:latin typeface="Helvetica Neue"/>
              </a:rPr>
              <a:t>the true lesions, in blue</a:t>
            </a:r>
          </a:p>
        </p:txBody>
      </p:sp>
      <p:pic>
        <p:nvPicPr>
          <p:cNvPr id="9" name="Picture 8" descr="brain3d_tumor_a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115" y="2606040"/>
            <a:ext cx="2526715" cy="24034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41115" y="5242483"/>
            <a:ext cx="25267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Tumor-aware (ours)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1115" y="5589955"/>
            <a:ext cx="25267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72"/>
                </a:solidFill>
                <a:latin typeface="Helvetica Neue"/>
              </a:rPr>
              <a:t>lesions preserved</a:t>
            </a:r>
          </a:p>
        </p:txBody>
      </p:sp>
      <p:pic>
        <p:nvPicPr>
          <p:cNvPr id="12" name="Picture 11" descr="brain3d_distor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863" y="2606040"/>
            <a:ext cx="2526715" cy="24034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23863" y="5242483"/>
            <a:ext cx="25267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863" y="5589955"/>
            <a:ext cx="25267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72"/>
                </a:solidFill>
                <a:latin typeface="Helvetica Neue"/>
              </a:rPr>
              <a:t>small lesions dropped</a:t>
            </a:r>
          </a:p>
        </p:txBody>
      </p:sp>
      <p:pic>
        <p:nvPicPr>
          <p:cNvPr id="15" name="Picture 14" descr="brain3d_uncertain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611" y="2606040"/>
            <a:ext cx="2526715" cy="24034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06611" y="5242483"/>
            <a:ext cx="25267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201B"/>
                </a:solidFill>
                <a:latin typeface="Helvetica Neue"/>
              </a:rPr>
              <a:t>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611" y="5589955"/>
            <a:ext cx="25267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72"/>
                </a:solidFill>
                <a:latin typeface="Helvetica Neue"/>
              </a:rPr>
              <a:t>where the model is unsure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72200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B7772"/>
                </a:solidFill>
                <a:latin typeface="Helvetica Neue"/>
              </a:rPr>
              <a:t>A blue shell with nothing inside it is a lesion the model lost.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